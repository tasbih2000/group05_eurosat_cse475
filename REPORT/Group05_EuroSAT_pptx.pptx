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D280D-E0B5-48A1-8E2A-0043DD521BF9}" v="10" dt="2026-08-20T22:22:08.148"/>
    <p1510:client id="{AA2E774D-1E97-4FE8-B9AA-82D2FE153130}" v="64" dt="2026-08-20T22:19:29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3F7D5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AnnualCrop</c:v>
                </c:pt>
                <c:pt idx="1">
                  <c:v>Forest</c:v>
                </c:pt>
                <c:pt idx="2">
                  <c:v>HerbVeg</c:v>
                </c:pt>
                <c:pt idx="3">
                  <c:v>Highway</c:v>
                </c:pt>
                <c:pt idx="4">
                  <c:v>Industrial</c:v>
                </c:pt>
                <c:pt idx="5">
                  <c:v>Pasture</c:v>
                </c:pt>
                <c:pt idx="6">
                  <c:v>PermCrop</c:v>
                </c:pt>
                <c:pt idx="7">
                  <c:v>Residential</c:v>
                </c:pt>
                <c:pt idx="8">
                  <c:v>River</c:v>
                </c:pt>
                <c:pt idx="9">
                  <c:v>SeaLake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3000</c:v>
                </c:pt>
                <c:pt idx="1">
                  <c:v>3000</c:v>
                </c:pt>
                <c:pt idx="2">
                  <c:v>3000</c:v>
                </c:pt>
                <c:pt idx="3">
                  <c:v>2500</c:v>
                </c:pt>
                <c:pt idx="4">
                  <c:v>2500</c:v>
                </c:pt>
                <c:pt idx="5">
                  <c:v>2000</c:v>
                </c:pt>
                <c:pt idx="6">
                  <c:v>2500</c:v>
                </c:pt>
                <c:pt idx="7">
                  <c:v>3000</c:v>
                </c:pt>
                <c:pt idx="8">
                  <c:v>2500</c:v>
                </c:pt>
                <c:pt idx="9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C-4DCE-8FBC-C2CEE3402A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3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B5E6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SimpleCNN</c:v>
                </c:pt>
                <c:pt idx="1">
                  <c:v>ResNet18</c:v>
                </c:pt>
                <c:pt idx="2">
                  <c:v>MobileNetV2</c:v>
                </c:pt>
                <c:pt idx="3">
                  <c:v>EffNet-B0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98.09</c:v>
                </c:pt>
                <c:pt idx="1">
                  <c:v>98.91</c:v>
                </c:pt>
                <c:pt idx="2">
                  <c:v>98.46</c:v>
                </c:pt>
                <c:pt idx="3">
                  <c:v>98.72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37-4826-ADDA-4E64272EE4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.5"/>
          <c:min val="97"/>
        </c:scaling>
        <c:delete val="0"/>
        <c:axPos val="l"/>
        <c:majorGridlines>
          <c:spPr>
            <a:ln w="12700" cap="flat">
              <a:solidFill>
                <a:srgbClr val="DDE3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%</c:v>
                </c:pt>
              </c:strCache>
            </c:strRef>
          </c:tx>
          <c:spPr>
            <a:solidFill>
              <a:srgbClr val="1B5E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AE-4EBA-9D20-2BA640D648E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8AE-4EBA-9D20-2BA640D648E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8AE-4EBA-9D20-2BA640D648E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8AE-4EBA-9D20-2BA640D648ED}"/>
              </c:ext>
            </c:extLst>
          </c:dPt>
          <c:dPt>
            <c:idx val="4"/>
            <c:invertIfNegative val="0"/>
            <c:bubble3D val="0"/>
            <c:spPr>
              <a:solidFill>
                <a:srgbClr val="D8A2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8AE-4EBA-9D20-2BA640D648ED}"/>
              </c:ext>
            </c:extLst>
          </c:dPt>
          <c:dPt>
            <c:idx val="5"/>
            <c:invertIfNegative val="0"/>
            <c:bubble3D val="0"/>
            <c:spPr>
              <a:solidFill>
                <a:srgbClr val="3F7D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8AE-4EBA-9D20-2BA640D648E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SimpleCNN</c:v>
                </c:pt>
                <c:pt idx="1">
                  <c:v>ResNet18</c:v>
                </c:pt>
                <c:pt idx="2">
                  <c:v>MobileNetV2</c:v>
                </c:pt>
                <c:pt idx="3">
                  <c:v>EffNet-B0</c:v>
                </c:pt>
                <c:pt idx="4">
                  <c:v>CNN+GCN+Attn v1</c:v>
                </c:pt>
                <c:pt idx="5">
                  <c:v>CNN+GCN+AttnV2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98.09</c:v>
                </c:pt>
                <c:pt idx="1">
                  <c:v>98.91</c:v>
                </c:pt>
                <c:pt idx="2">
                  <c:v>98.46</c:v>
                </c:pt>
                <c:pt idx="3">
                  <c:v>98.72</c:v>
                </c:pt>
                <c:pt idx="4">
                  <c:v>98.35</c:v>
                </c:pt>
                <c:pt idx="5">
                  <c:v>99.06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8AE-4EBA-9D20-2BA640D648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.7"/>
          <c:min val="97.5"/>
        </c:scaling>
        <c:delete val="0"/>
        <c:axPos val="l"/>
        <c:majorGridlines>
          <c:spPr>
            <a:ln w="12700" cap="flat">
              <a:solidFill>
                <a:srgbClr val="DDE3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CB7D1-80EC-4B00-9CF8-E97F71D610F0}" type="datetimeFigureOut">
              <a:t>8/20/2026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704A2-AEA2-4693-9412-14BED82A085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81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822960" cy="822960"/>
          </a:xfrm>
          <a:prstGeom prst="rect">
            <a:avLst/>
          </a:prstGeom>
          <a:solidFill>
            <a:srgbClr val="1B5E63">
              <a:alpha val="40000"/>
            </a:srgbClr>
          </a:solidFill>
          <a:ln w="9525">
            <a:solidFill>
              <a:srgbClr val="3F7D5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548640"/>
            <a:ext cx="822960" cy="822960"/>
          </a:xfrm>
          <a:prstGeom prst="rect">
            <a:avLst/>
          </a:prstGeom>
          <a:solidFill>
            <a:srgbClr val="1B5E63">
              <a:alpha val="40000"/>
            </a:srgbClr>
          </a:solidFill>
          <a:ln w="9525">
            <a:solidFill>
              <a:srgbClr val="3F7D5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548640"/>
            <a:ext cx="822960" cy="822960"/>
          </a:xfrm>
          <a:prstGeom prst="rect">
            <a:avLst/>
          </a:prstGeom>
          <a:solidFill>
            <a:srgbClr val="1B5E63">
              <a:alpha val="40000"/>
            </a:srgbClr>
          </a:solidFill>
          <a:ln w="9525">
            <a:solidFill>
              <a:srgbClr val="3F7D5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554480"/>
            <a:ext cx="822960" cy="822960"/>
          </a:xfrm>
          <a:prstGeom prst="rect">
            <a:avLst/>
          </a:prstGeom>
          <a:solidFill>
            <a:srgbClr val="1B5E63">
              <a:alpha val="40000"/>
            </a:srgbClr>
          </a:solidFill>
          <a:ln w="9525">
            <a:solidFill>
              <a:srgbClr val="3F7D5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0" y="1554480"/>
            <a:ext cx="822960" cy="822960"/>
          </a:xfrm>
          <a:prstGeom prst="rect">
            <a:avLst/>
          </a:prstGeom>
          <a:solidFill>
            <a:srgbClr val="1B5E63">
              <a:alpha val="40000"/>
            </a:srgbClr>
          </a:solidFill>
          <a:ln w="9525">
            <a:solidFill>
              <a:srgbClr val="3F7D5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0" y="1554480"/>
            <a:ext cx="822960" cy="822960"/>
          </a:xfrm>
          <a:prstGeom prst="rect">
            <a:avLst/>
          </a:prstGeom>
          <a:solidFill>
            <a:srgbClr val="1B5E63">
              <a:alpha val="40000"/>
            </a:srgbClr>
          </a:solidFill>
          <a:ln w="9525">
            <a:solidFill>
              <a:srgbClr val="3F7D5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EuroSAT Land Cover Classification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chemeClr val="accent4"/>
                </a:solidFill>
                <a:ea typeface="+mn-lt"/>
                <a:cs typeface="+mn-lt"/>
              </a:rPr>
              <a:t>Group- 5</a:t>
            </a:r>
            <a:endParaRPr lang="en-US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9572446" cy="2139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7D3D4"/>
                </a:solidFill>
                <a:ea typeface="+mn-lt"/>
                <a:cs typeface="+mn-lt"/>
              </a:rPr>
              <a:t>Submitted by: 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C7D3D4"/>
                </a:solidFill>
                <a:ea typeface="+mn-lt"/>
                <a:cs typeface="+mn-lt"/>
              </a:rPr>
              <a:t>Mohaimen Mostafa Tasbih (2022-1-60-391)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C7D3D4"/>
                </a:solidFill>
                <a:ea typeface="+mn-lt"/>
                <a:cs typeface="+mn-lt"/>
              </a:rPr>
              <a:t>Redoanul Alam Mozumder (2023-1-60-046) 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C7D3D4"/>
                </a:solidFill>
                <a:ea typeface="+mn-lt"/>
                <a:cs typeface="+mn-lt"/>
              </a:rPr>
              <a:t>Md. Irfan Sadik Saad (2023-1-60-095) 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C7D3D4"/>
                </a:solidFill>
                <a:ea typeface="+mn-lt"/>
                <a:cs typeface="+mn-lt"/>
              </a:rPr>
              <a:t>Monisha Akter Sumaiya (2023-3-60-369)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8FA3A6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3F7D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990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satellite scenes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46504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B6B6E"/>
                </a:solidFill>
                <a:ea typeface="+mn-lt"/>
                <a:cs typeface="+mn-lt"/>
              </a:rPr>
              <a:t>Classify Sentinel-2 multispectral images into 10 land-use/land-cover classes using the 13-band </a:t>
            </a:r>
            <a:r>
              <a:rPr lang="en-US" sz="1300" dirty="0" err="1">
                <a:solidFill>
                  <a:srgbClr val="5B6B6E"/>
                </a:solidFill>
                <a:ea typeface="+mn-lt"/>
                <a:cs typeface="+mn-lt"/>
              </a:rPr>
              <a:t>EuroSAT</a:t>
            </a:r>
            <a:r>
              <a:rPr lang="en-US" sz="1300" dirty="0">
                <a:solidFill>
                  <a:srgbClr val="5B6B6E"/>
                </a:solidFill>
                <a:ea typeface="+mn-lt"/>
                <a:cs typeface="+mn-lt"/>
              </a:rPr>
              <a:t> dataset.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384048" cy="384048"/>
          </a:xfrm>
          <a:prstGeom prst="ellipse">
            <a:avLst/>
          </a:prstGeom>
          <a:solidFill>
            <a:srgbClr val="3F7D5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694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4 baseline CNNs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916936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B6B6E"/>
                </a:solidFill>
                <a:ea typeface="+mn-lt"/>
                <a:cs typeface="+mn-lt"/>
              </a:rPr>
              <a:t>Train and evaluate </a:t>
            </a:r>
            <a:r>
              <a:rPr lang="en-US" sz="1300">
                <a:solidFill>
                  <a:srgbClr val="5B6B6E"/>
                </a:solidFill>
                <a:ea typeface="+mn-lt"/>
                <a:cs typeface="+mn-lt"/>
              </a:rPr>
              <a:t>Simple CNN</a:t>
            </a:r>
            <a:r>
              <a:rPr lang="en-US" sz="1300" dirty="0">
                <a:solidFill>
                  <a:srgbClr val="5B6B6E"/>
                </a:solidFill>
                <a:ea typeface="+mn-lt"/>
                <a:cs typeface="+mn-lt"/>
              </a:rPr>
              <a:t>, ResNet18, MobileNetV2, and EfficientNet-B0 as reference models.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384048" cy="384048"/>
          </a:xfrm>
          <a:prstGeom prst="ellipse">
            <a:avLst/>
          </a:prstGeom>
          <a:solidFill>
            <a:srgbClr val="3F7D5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proposed hybrid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08736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5B6B6E"/>
                </a:solidFill>
                <a:ea typeface="+mn-lt"/>
                <a:cs typeface="+mn-lt"/>
              </a:rPr>
              <a:t>Design a CNN + Graph Convolutional Network (GCN) + Multi-Head Attention architecture and evaluate whether it can improve upon the strongest baseline.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974336"/>
            <a:ext cx="384048" cy="384048"/>
          </a:xfrm>
          <a:prstGeom prst="ellipse">
            <a:avLst/>
          </a:prstGeom>
          <a:solidFill>
            <a:srgbClr val="3F7D5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103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rigorously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2578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5B6B6E"/>
                </a:solidFill>
                <a:ea typeface="+mn-lt"/>
                <a:cs typeface="+mn-lt"/>
              </a:rPr>
              <a:t>Conduct ablation experiments, statistical evaluation, and Grad-CAM/LIME explainability to understand model performance and decision-making.</a:t>
            </a:r>
            <a:r>
              <a:rPr lang="en-US" sz="1300">
                <a:solidFill>
                  <a:srgbClr val="5B6B6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EuroSAT Multispectral (MS)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satellite imagery, 27,000 labeled scenes across 10 land use / land cover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874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874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8521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bands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5820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874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5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64×64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582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 (px)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(2,000–3,000 images per class)</a:t>
            </a:r>
            <a:endParaRPr lang="en-US" sz="15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40080" y="3840480"/>
          <a:ext cx="6492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7406640" y="3995928"/>
            <a:ext cx="91440" cy="9144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858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corrupted files (0 / 27,000)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406640" y="4562856"/>
            <a:ext cx="91440" cy="9144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21" name="Text 18"/>
          <p:cNvSpPr/>
          <p:nvPr/>
        </p:nvSpPr>
        <p:spPr>
          <a:xfrm>
            <a:off x="7635240" y="4425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ratio: 1.50 (max/min)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06640" y="5129784"/>
            <a:ext cx="91440" cy="9144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23" name="Text 20"/>
          <p:cNvSpPr/>
          <p:nvPr/>
        </p:nvSpPr>
        <p:spPr>
          <a:xfrm>
            <a:off x="7635240" y="4992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Sentinel-2 bands, uint16, 10m resolution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06640" y="5696712"/>
            <a:ext cx="91440" cy="91440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559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or near-duplicate images found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3796" y="26517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B5E63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72284" y="3163824"/>
            <a:ext cx="219456" cy="164592"/>
          </a:xfrm>
          <a:prstGeom prst="rightArrow">
            <a:avLst/>
          </a:prstGeom>
          <a:solidFill>
            <a:srgbClr val="5B6B6E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10028" y="26517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B5E63"/>
          </a:solidFill>
          <a:ln/>
        </p:spPr>
      </p:sp>
      <p:sp>
        <p:nvSpPr>
          <p:cNvPr id="8" name="Text 6"/>
          <p:cNvSpPr/>
          <p:nvPr/>
        </p:nvSpPr>
        <p:spPr>
          <a:xfrm>
            <a:off x="2510028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Normalization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28516" y="3163824"/>
            <a:ext cx="219456" cy="164592"/>
          </a:xfrm>
          <a:prstGeom prst="rightArrow">
            <a:avLst/>
          </a:prstGeom>
          <a:solidFill>
            <a:srgbClr val="5B6B6E"/>
          </a:solidFill>
          <a:ln/>
        </p:spPr>
      </p:sp>
      <p:sp>
        <p:nvSpPr>
          <p:cNvPr id="10" name="Text 8"/>
          <p:cNvSpPr/>
          <p:nvPr/>
        </p:nvSpPr>
        <p:spPr>
          <a:xfrm>
            <a:off x="2510028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66260" y="26517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3F7D58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4748" y="3163824"/>
            <a:ext cx="219456" cy="164592"/>
          </a:xfrm>
          <a:prstGeom prst="rightArrow">
            <a:avLst/>
          </a:prstGeom>
          <a:solidFill>
            <a:srgbClr val="5B6B6E"/>
          </a:solidFill>
          <a:ln/>
        </p:spPr>
      </p:sp>
      <p:sp>
        <p:nvSpPr>
          <p:cNvPr id="14" name="Text 12"/>
          <p:cNvSpPr/>
          <p:nvPr/>
        </p:nvSpPr>
        <p:spPr>
          <a:xfrm>
            <a:off x="436626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2492" y="26517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D8A2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22492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CNN+GCN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+Attention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40980" y="3163824"/>
            <a:ext cx="219456" cy="164592"/>
          </a:xfrm>
          <a:prstGeom prst="rightArrow">
            <a:avLst/>
          </a:prstGeom>
          <a:solidFill>
            <a:srgbClr val="5B6B6E"/>
          </a:solidFill>
          <a:ln/>
        </p:spPr>
      </p:sp>
      <p:sp>
        <p:nvSpPr>
          <p:cNvPr id="18" name="Text 16"/>
          <p:cNvSpPr/>
          <p:nvPr/>
        </p:nvSpPr>
        <p:spPr>
          <a:xfrm>
            <a:off x="6222492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78724" y="26517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3F7D58"/>
          </a:solidFill>
          <a:ln/>
        </p:spPr>
      </p:sp>
      <p:sp>
        <p:nvSpPr>
          <p:cNvPr id="20" name="Text 18"/>
          <p:cNvSpPr/>
          <p:nvPr/>
        </p:nvSpPr>
        <p:spPr>
          <a:xfrm>
            <a:off x="8078724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97212" y="3163824"/>
            <a:ext cx="219456" cy="164592"/>
          </a:xfrm>
          <a:prstGeom prst="rightArrow">
            <a:avLst/>
          </a:prstGeom>
          <a:solidFill>
            <a:srgbClr val="5B6B6E"/>
          </a:solidFill>
          <a:ln/>
        </p:spPr>
      </p:sp>
      <p:sp>
        <p:nvSpPr>
          <p:cNvPr id="22" name="Text 20"/>
          <p:cNvSpPr/>
          <p:nvPr/>
        </p:nvSpPr>
        <p:spPr>
          <a:xfrm>
            <a:off x="8078724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34956" y="265176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B5E63"/>
          </a:solidFill>
          <a:ln/>
        </p:spPr>
      </p:sp>
      <p:sp>
        <p:nvSpPr>
          <p:cNvPr id="24" name="Text 22"/>
          <p:cNvSpPr/>
          <p:nvPr/>
        </p:nvSpPr>
        <p:spPr>
          <a:xfrm>
            <a:off x="9934956" y="2651760"/>
            <a:ext cx="16002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(Grad-CAM, LIME)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934956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/>
                <a:ea typeface="Calibri"/>
                <a:cs typeface="Calibri"/>
              </a:rPr>
              <a:t>Final test set (20%) is held out and untouched until final evaluation; 5-fold CV runs only on the remaining 80% development set.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architectures trained on the same 13-band input, same train/test split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49301"/>
              </p:ext>
            </p:extLst>
          </p:nvPr>
        </p:nvGraphicFramePr>
        <p:xfrm>
          <a:off x="640080" y="1691640"/>
          <a:ext cx="667512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(macro)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1F2A2E"/>
                          </a:solidFill>
                          <a:latin typeface="Calibri"/>
                          <a:ea typeface="Calibri"/>
                          <a:cs typeface="Calibri"/>
                        </a:rPr>
                        <a:t>Simple CNN</a:t>
                      </a: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/>
                          <a:ea typeface="Calibri"/>
                          <a:cs typeface="Calibri"/>
                        </a:rPr>
                        <a:t> (from scratch)</a:t>
                      </a:r>
                      <a:endParaRPr lang="en-US" sz="125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144,234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 (pretrained)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11,213,002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(pretrained)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2,239,562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(pretrained)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4,023,238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691640"/>
            <a:ext cx="6675120" cy="45720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4" name="Text 3"/>
          <p:cNvSpPr/>
          <p:nvPr/>
        </p:nvSpPr>
        <p:spPr>
          <a:xfrm>
            <a:off x="6400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38328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1792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4251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is the strongest baseline (98.91%)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7635240" y="1691640"/>
          <a:ext cx="39319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Architecture: CNN + GCN + Attention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extracts spatial features → features become graph nodes → GCN + Multi-Head Attention model relationships between regions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B5E6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3619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1764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× 64 × 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2041855"/>
            <a:ext cx="128016" cy="85954"/>
          </a:xfrm>
          <a:prstGeom prst="downArrow">
            <a:avLst/>
          </a:prstGeom>
          <a:solidFill>
            <a:srgbClr val="5B6B6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30552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B5E6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579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Extractor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386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blocks (32→64→128)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→ 8×8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2663647"/>
            <a:ext cx="128016" cy="85954"/>
          </a:xfrm>
          <a:prstGeom prst="downArrow">
            <a:avLst/>
          </a:prstGeom>
          <a:solidFill>
            <a:srgbClr val="5B6B6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752344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3F7D58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77977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 Graph Nodes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nodes × 128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50592" y="3285439"/>
            <a:ext cx="128016" cy="85954"/>
          </a:xfrm>
          <a:prstGeom prst="downArrow">
            <a:avLst/>
          </a:prstGeom>
          <a:solidFill>
            <a:srgbClr val="5B6B6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374136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3F7D5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40156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Layer 1 + 2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630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8-neighbor grid graph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LayerNorm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3907231"/>
            <a:ext cx="128016" cy="85954"/>
          </a:xfrm>
          <a:prstGeom prst="downArrow">
            <a:avLst/>
          </a:prstGeom>
          <a:solidFill>
            <a:srgbClr val="5B6B6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995928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D8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02336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4251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heads, + Add &amp; Norm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50592" y="4529023"/>
            <a:ext cx="128016" cy="85954"/>
          </a:xfrm>
          <a:prstGeom prst="downArrow">
            <a:avLst/>
          </a:prstGeom>
          <a:solidFill>
            <a:srgbClr val="5B6B6E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617720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D8A24A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6451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4873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&amp; Norm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50592" y="5150815"/>
            <a:ext cx="128016" cy="85954"/>
          </a:xfrm>
          <a:prstGeom prst="downArrow">
            <a:avLst/>
          </a:prstGeom>
          <a:solidFill>
            <a:srgbClr val="5B6B6E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5239512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B5E63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26694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Pooling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" y="54955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64 graph nodes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50592" y="5772607"/>
            <a:ext cx="128016" cy="85954"/>
          </a:xfrm>
          <a:prstGeom prst="downArrow">
            <a:avLst/>
          </a:prstGeom>
          <a:solidFill>
            <a:srgbClr val="5B6B6E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5861304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13293D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8887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0120" y="61173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→ ReLU → FC → 10 classes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600200"/>
            <a:ext cx="6675120" cy="4572000"/>
          </a:xfrm>
          <a:prstGeom prst="roundRect">
            <a:avLst>
              <a:gd name="adj" fmla="val 1600"/>
            </a:avLst>
          </a:prstGeom>
          <a:solidFill>
            <a:srgbClr val="F4F6F5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1783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 were trained and tested: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83480" y="2286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CNN + GCN + Attention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26060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backbone trained from scratch. 325,867 parameters. Test accuracy: 98.35%.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83480" y="3474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+ Pretrained Backbone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83480" y="37947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backbone (pretrained) feeding the GCN + attention head, with residual fusion. 897,675 parameters. Test accuracy: 99.06%.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47548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1F2A2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Baselines vs. Proposed Model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280160"/>
          <a:ext cx="108813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2578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GCN + AttentionV2 achieves the highest test accuracy (99.06%), beating the ResNet18 baseline by +0.15% — using 897,675 parameters vs. ResNet18's 11.2 million (≈12× fewer).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6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(dev set)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ResNet18:  97.66% ± 0.17%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CNN+GCN+Attention (v1):  95.63% ± 0.33%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t-test: t = −11.42, p = 0.0003 — statistically significant difference during CV (ResNet18 ahead at this stage).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3716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6F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Held-Out Test (v2 vs. ResNet18)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057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mean accuracy difference: +0.144%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4231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[−0.130%, +0.407%]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includes 0, so v2's improvement over ResNet18 is not yet conclusively significant — more training/data would help confirm it.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Highlights (design-choice impact, quick 8-epoch runs)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51960"/>
          <a:ext cx="6400800" cy="1828800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 (CBAM attention)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attention (attention removed)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BatchNorm (largest drop)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251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4434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5B6B6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Explainability: Grad-CAM &amp; LIME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one correctly classified image and one misclassified image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057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5603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which spatial regions of the CNN feature map most influenced the prediction, shown as a heatmap over the RGB composite.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057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56032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Perturbs regions of the image and observes prediction changes to identify which superpixels were most responsible for the model's decision.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i="1" dirty="0">
              <a:solidFill>
                <a:srgbClr val="5B6B6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64208"/>
            <a:ext cx="109728" cy="109728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527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exceed 98% test accuracy on the EuroSAT multispectral dataset.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109728" cy="109728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957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GCN + AttentionV2 achieves the best test accuracy (99.06%), edging out ResNet18 (98.91%) while using ~12× fewer parameters.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01568"/>
            <a:ext cx="109728" cy="109728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644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and bootstrap significance testing show the improvement is real but not yet conclusively significant — the 95% CI still includes zero.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70248"/>
            <a:ext cx="109728" cy="109728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1330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shows BatchNorm has more impact on this architecture than the specific attention mechanism used.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138928"/>
            <a:ext cx="109728" cy="109728"/>
          </a:xfrm>
          <a:prstGeom prst="ellipse">
            <a:avLst/>
          </a:prstGeom>
          <a:solidFill>
            <a:srgbClr val="D8A24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0017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and LIME confirm the model attends to relevant land-cover regions, supporting result trustworthiness.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extend training for CNN+GCN+AttentionV2 to confirm statistical significance over ResNet18.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55</cp:revision>
  <dcterms:created xsi:type="dcterms:W3CDTF">2026-08-20T21:22:48Z</dcterms:created>
  <dcterms:modified xsi:type="dcterms:W3CDTF">2026-08-20T22:30:19Z</dcterms:modified>
</cp:coreProperties>
</file>